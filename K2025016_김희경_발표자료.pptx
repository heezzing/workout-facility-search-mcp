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210 연필스케치" panose="02020603020101020101" pitchFamily="18" charset="-127"/>
      <p:regular r:id="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 autoAdjust="0"/>
    <p:restoredTop sz="94545" autoAdjust="0"/>
  </p:normalViewPr>
  <p:slideViewPr>
    <p:cSldViewPr>
      <p:cViewPr varScale="1">
        <p:scale>
          <a:sx n="97" d="100"/>
          <a:sy n="97" d="100"/>
        </p:scale>
        <p:origin x="376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5933" y="623642"/>
            <a:ext cx="14420735" cy="8045568"/>
          </a:xfrm>
          <a:custGeom>
            <a:avLst/>
            <a:gdLst/>
            <a:ahLst/>
            <a:cxnLst/>
            <a:rect l="l" t="t" r="r" b="b"/>
            <a:pathLst>
              <a:path w="14420735" h="8045568">
                <a:moveTo>
                  <a:pt x="0" y="0"/>
                </a:moveTo>
                <a:lnTo>
                  <a:pt x="14420734" y="0"/>
                </a:lnTo>
                <a:lnTo>
                  <a:pt x="14420734" y="8045568"/>
                </a:lnTo>
                <a:lnTo>
                  <a:pt x="0" y="804556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Freeform 3"/>
          <p:cNvSpPr/>
          <p:nvPr/>
        </p:nvSpPr>
        <p:spPr>
          <a:xfrm rot="-896275">
            <a:off x="274857" y="4077190"/>
            <a:ext cx="1834019" cy="2372999"/>
          </a:xfrm>
          <a:custGeom>
            <a:avLst/>
            <a:gdLst/>
            <a:ahLst/>
            <a:cxnLst/>
            <a:rect l="l" t="t" r="r" b="b"/>
            <a:pathLst>
              <a:path w="1834019" h="2372999">
                <a:moveTo>
                  <a:pt x="0" y="0"/>
                </a:moveTo>
                <a:lnTo>
                  <a:pt x="1834019" y="0"/>
                </a:lnTo>
                <a:lnTo>
                  <a:pt x="1834019" y="2372999"/>
                </a:lnTo>
                <a:lnTo>
                  <a:pt x="0" y="2372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7830358"/>
            <a:ext cx="1828800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</a:pPr>
            <a:r>
              <a:rPr lang="en-US" sz="15000" spc="-150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HERMES + OPNEROUTER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76809" y="9468658"/>
            <a:ext cx="3233173" cy="2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37"/>
              </a:lnSpc>
            </a:pPr>
            <a:r>
              <a:rPr lang="en-US" sz="2041" spc="-57">
                <a:solidFill>
                  <a:srgbClr val="1E1E1E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K2025016 인공지능학과 김희경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57286" y="1752372"/>
            <a:ext cx="7601550" cy="2866418"/>
          </a:xfrm>
          <a:custGeom>
            <a:avLst/>
            <a:gdLst/>
            <a:ahLst/>
            <a:cxnLst/>
            <a:rect l="l" t="t" r="r" b="b"/>
            <a:pathLst>
              <a:path w="7601550" h="2866418">
                <a:moveTo>
                  <a:pt x="0" y="0"/>
                </a:moveTo>
                <a:lnTo>
                  <a:pt x="7601550" y="0"/>
                </a:lnTo>
                <a:lnTo>
                  <a:pt x="7601550" y="2866418"/>
                </a:lnTo>
                <a:lnTo>
                  <a:pt x="0" y="2866418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1133452" y="4768374"/>
            <a:ext cx="3086100" cy="1923960"/>
            <a:chOff x="0" y="0"/>
            <a:chExt cx="812800" cy="5067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06722"/>
            </a:xfrm>
            <a:custGeom>
              <a:avLst/>
              <a:gdLst/>
              <a:ahLst/>
              <a:cxnLst/>
              <a:rect l="l" t="t" r="r" b="b"/>
              <a:pathLst>
                <a:path w="812800" h="506722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78781"/>
                  </a:lnTo>
                  <a:cubicBezTo>
                    <a:pt x="812800" y="412713"/>
                    <a:pt x="799321" y="445255"/>
                    <a:pt x="775327" y="469249"/>
                  </a:cubicBezTo>
                  <a:cubicBezTo>
                    <a:pt x="751333" y="493243"/>
                    <a:pt x="718791" y="506722"/>
                    <a:pt x="684859" y="506722"/>
                  </a:cubicBezTo>
                  <a:lnTo>
                    <a:pt x="127941" y="506722"/>
                  </a:lnTo>
                  <a:cubicBezTo>
                    <a:pt x="94009" y="506722"/>
                    <a:pt x="61467" y="493243"/>
                    <a:pt x="37473" y="469249"/>
                  </a:cubicBezTo>
                  <a:cubicBezTo>
                    <a:pt x="13479" y="445255"/>
                    <a:pt x="0" y="412713"/>
                    <a:pt x="0" y="3787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F0EC"/>
            </a:solidFill>
            <a:ln w="47625" cap="rnd">
              <a:solidFill>
                <a:srgbClr val="4F4E4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812800" cy="430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챗봇 대화</a:t>
              </a:r>
            </a:p>
            <a:p>
              <a:pPr algn="ctr">
                <a:lnSpc>
                  <a:spcPts val="1837"/>
                </a:lnSpc>
              </a:pPr>
              <a:endParaRPr lang="en-US" sz="2999" spc="-83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이름,나이,MBTI</a:t>
              </a: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운동 이력 수집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71961" y="4768374"/>
            <a:ext cx="3086100" cy="1923960"/>
            <a:chOff x="0" y="0"/>
            <a:chExt cx="812800" cy="5067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06722"/>
            </a:xfrm>
            <a:custGeom>
              <a:avLst/>
              <a:gdLst/>
              <a:ahLst/>
              <a:cxnLst/>
              <a:rect l="l" t="t" r="r" b="b"/>
              <a:pathLst>
                <a:path w="812800" h="506722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78781"/>
                  </a:lnTo>
                  <a:cubicBezTo>
                    <a:pt x="812800" y="412713"/>
                    <a:pt x="799321" y="445255"/>
                    <a:pt x="775327" y="469249"/>
                  </a:cubicBezTo>
                  <a:cubicBezTo>
                    <a:pt x="751333" y="493243"/>
                    <a:pt x="718791" y="506722"/>
                    <a:pt x="684859" y="506722"/>
                  </a:cubicBezTo>
                  <a:lnTo>
                    <a:pt x="127941" y="506722"/>
                  </a:lnTo>
                  <a:cubicBezTo>
                    <a:pt x="94009" y="506722"/>
                    <a:pt x="61467" y="493243"/>
                    <a:pt x="37473" y="469249"/>
                  </a:cubicBezTo>
                  <a:cubicBezTo>
                    <a:pt x="13479" y="445255"/>
                    <a:pt x="0" y="412713"/>
                    <a:pt x="0" y="3787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F0EC"/>
            </a:solidFill>
            <a:ln w="47625" cap="rnd">
              <a:solidFill>
                <a:srgbClr val="4F4E4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200"/>
              <a:ext cx="812800" cy="430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HERMES 추천</a:t>
              </a:r>
            </a:p>
            <a:p>
              <a:pPr algn="ctr">
                <a:lnSpc>
                  <a:spcPts val="2249"/>
                </a:lnSpc>
              </a:pPr>
              <a:endParaRPr lang="en-US" sz="2999" spc="-83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PGVECTOR RAG</a:t>
              </a: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종목 추천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732104" y="4768374"/>
            <a:ext cx="3086100" cy="1923960"/>
            <a:chOff x="0" y="0"/>
            <a:chExt cx="812800" cy="506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506722"/>
            </a:xfrm>
            <a:custGeom>
              <a:avLst/>
              <a:gdLst/>
              <a:ahLst/>
              <a:cxnLst/>
              <a:rect l="l" t="t" r="r" b="b"/>
              <a:pathLst>
                <a:path w="812800" h="506722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78781"/>
                  </a:lnTo>
                  <a:cubicBezTo>
                    <a:pt x="812800" y="412713"/>
                    <a:pt x="799321" y="445255"/>
                    <a:pt x="775327" y="469249"/>
                  </a:cubicBezTo>
                  <a:cubicBezTo>
                    <a:pt x="751333" y="493243"/>
                    <a:pt x="718791" y="506722"/>
                    <a:pt x="684859" y="506722"/>
                  </a:cubicBezTo>
                  <a:lnTo>
                    <a:pt x="127941" y="506722"/>
                  </a:lnTo>
                  <a:cubicBezTo>
                    <a:pt x="94009" y="506722"/>
                    <a:pt x="61467" y="493243"/>
                    <a:pt x="37473" y="469249"/>
                  </a:cubicBezTo>
                  <a:cubicBezTo>
                    <a:pt x="13479" y="445255"/>
                    <a:pt x="0" y="412713"/>
                    <a:pt x="0" y="3787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F0EC"/>
            </a:solidFill>
            <a:ln w="47625" cap="rnd">
              <a:solidFill>
                <a:srgbClr val="4F4E4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200"/>
              <a:ext cx="812800" cy="430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시설 탐색</a:t>
              </a:r>
            </a:p>
            <a:p>
              <a:pPr algn="ctr">
                <a:lnSpc>
                  <a:spcPts val="2249"/>
                </a:lnSpc>
              </a:pPr>
              <a:endParaRPr lang="en-US" sz="2999" spc="-83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주변 시설 매칭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030348" y="4768374"/>
            <a:ext cx="3086100" cy="1923960"/>
            <a:chOff x="0" y="0"/>
            <a:chExt cx="812800" cy="50672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506722"/>
            </a:xfrm>
            <a:custGeom>
              <a:avLst/>
              <a:gdLst/>
              <a:ahLst/>
              <a:cxnLst/>
              <a:rect l="l" t="t" r="r" b="b"/>
              <a:pathLst>
                <a:path w="812800" h="506722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378781"/>
                  </a:lnTo>
                  <a:cubicBezTo>
                    <a:pt x="812800" y="412713"/>
                    <a:pt x="799321" y="445255"/>
                    <a:pt x="775327" y="469249"/>
                  </a:cubicBezTo>
                  <a:cubicBezTo>
                    <a:pt x="751333" y="493243"/>
                    <a:pt x="718791" y="506722"/>
                    <a:pt x="684859" y="506722"/>
                  </a:cubicBezTo>
                  <a:lnTo>
                    <a:pt x="127941" y="506722"/>
                  </a:lnTo>
                  <a:cubicBezTo>
                    <a:pt x="94009" y="506722"/>
                    <a:pt x="61467" y="493243"/>
                    <a:pt x="37473" y="469249"/>
                  </a:cubicBezTo>
                  <a:cubicBezTo>
                    <a:pt x="13479" y="445255"/>
                    <a:pt x="0" y="412713"/>
                    <a:pt x="0" y="378781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F0EC"/>
            </a:solidFill>
            <a:ln w="47625" cap="rnd">
              <a:solidFill>
                <a:srgbClr val="4F4E4E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812800" cy="430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미션 발급</a:t>
              </a:r>
            </a:p>
            <a:p>
              <a:pPr algn="ctr">
                <a:lnSpc>
                  <a:spcPts val="2249"/>
                </a:lnSpc>
              </a:pPr>
              <a:endParaRPr lang="en-US" sz="2999" spc="-83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주간 미션</a:t>
              </a:r>
            </a:p>
            <a:p>
              <a:pPr algn="ctr">
                <a:lnSpc>
                  <a:spcPts val="1800"/>
                </a:lnSpc>
              </a:pPr>
              <a:r>
                <a:rPr lang="en-US" sz="2000" spc="-56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만족도 피드백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4300188" y="5653189"/>
            <a:ext cx="1100113" cy="320408"/>
          </a:xfrm>
          <a:custGeom>
            <a:avLst/>
            <a:gdLst/>
            <a:ahLst/>
            <a:cxnLst/>
            <a:rect l="l" t="t" r="r" b="b"/>
            <a:pathLst>
              <a:path w="1100113" h="320408">
                <a:moveTo>
                  <a:pt x="0" y="0"/>
                </a:moveTo>
                <a:lnTo>
                  <a:pt x="1100114" y="0"/>
                </a:lnTo>
                <a:lnTo>
                  <a:pt x="1100114" y="320408"/>
                </a:lnTo>
                <a:lnTo>
                  <a:pt x="0" y="320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6" name="Freeform 16"/>
          <p:cNvSpPr/>
          <p:nvPr/>
        </p:nvSpPr>
        <p:spPr>
          <a:xfrm>
            <a:off x="8596161" y="5653189"/>
            <a:ext cx="1100113" cy="320408"/>
          </a:xfrm>
          <a:custGeom>
            <a:avLst/>
            <a:gdLst/>
            <a:ahLst/>
            <a:cxnLst/>
            <a:rect l="l" t="t" r="r" b="b"/>
            <a:pathLst>
              <a:path w="1100113" h="320408">
                <a:moveTo>
                  <a:pt x="0" y="0"/>
                </a:moveTo>
                <a:lnTo>
                  <a:pt x="1100114" y="0"/>
                </a:lnTo>
                <a:lnTo>
                  <a:pt x="1100114" y="320408"/>
                </a:lnTo>
                <a:lnTo>
                  <a:pt x="0" y="320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7" name="Freeform 17"/>
          <p:cNvSpPr/>
          <p:nvPr/>
        </p:nvSpPr>
        <p:spPr>
          <a:xfrm>
            <a:off x="12856304" y="5653189"/>
            <a:ext cx="1100113" cy="320408"/>
          </a:xfrm>
          <a:custGeom>
            <a:avLst/>
            <a:gdLst/>
            <a:ahLst/>
            <a:cxnLst/>
            <a:rect l="l" t="t" r="r" b="b"/>
            <a:pathLst>
              <a:path w="1100113" h="320408">
                <a:moveTo>
                  <a:pt x="0" y="0"/>
                </a:moveTo>
                <a:lnTo>
                  <a:pt x="1100114" y="0"/>
                </a:lnTo>
                <a:lnTo>
                  <a:pt x="1100114" y="320408"/>
                </a:lnTo>
                <a:lnTo>
                  <a:pt x="0" y="320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040998" y="759411"/>
            <a:ext cx="5560273" cy="84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7"/>
              </a:lnSpc>
            </a:pPr>
            <a:r>
              <a:rPr lang="en-US" sz="7594" spc="-759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운동 추천 서비스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96525" y="7062076"/>
            <a:ext cx="7424609" cy="2702630"/>
            <a:chOff x="0" y="0"/>
            <a:chExt cx="1955453" cy="7118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55453" cy="711804"/>
            </a:xfrm>
            <a:custGeom>
              <a:avLst/>
              <a:gdLst/>
              <a:ahLst/>
              <a:cxnLst/>
              <a:rect l="l" t="t" r="r" b="b"/>
              <a:pathLst>
                <a:path w="1955453" h="711804">
                  <a:moveTo>
                    <a:pt x="53180" y="0"/>
                  </a:moveTo>
                  <a:lnTo>
                    <a:pt x="1902273" y="0"/>
                  </a:lnTo>
                  <a:cubicBezTo>
                    <a:pt x="1931643" y="0"/>
                    <a:pt x="1955453" y="23809"/>
                    <a:pt x="1955453" y="53180"/>
                  </a:cubicBezTo>
                  <a:lnTo>
                    <a:pt x="1955453" y="658624"/>
                  </a:lnTo>
                  <a:cubicBezTo>
                    <a:pt x="1955453" y="672728"/>
                    <a:pt x="1949850" y="686255"/>
                    <a:pt x="1939877" y="696228"/>
                  </a:cubicBezTo>
                  <a:cubicBezTo>
                    <a:pt x="1929904" y="706201"/>
                    <a:pt x="1916377" y="711804"/>
                    <a:pt x="1902273" y="711804"/>
                  </a:cubicBezTo>
                  <a:lnTo>
                    <a:pt x="53180" y="711804"/>
                  </a:lnTo>
                  <a:cubicBezTo>
                    <a:pt x="23809" y="711804"/>
                    <a:pt x="0" y="687994"/>
                    <a:pt x="0" y="658624"/>
                  </a:cubicBezTo>
                  <a:lnTo>
                    <a:pt x="0" y="53180"/>
                  </a:lnTo>
                  <a:cubicBezTo>
                    <a:pt x="0" y="39076"/>
                    <a:pt x="5603" y="25549"/>
                    <a:pt x="15576" y="15576"/>
                  </a:cubicBezTo>
                  <a:cubicBezTo>
                    <a:pt x="25549" y="5603"/>
                    <a:pt x="39076" y="0"/>
                    <a:pt x="53180" y="0"/>
                  </a:cubicBezTo>
                  <a:close/>
                </a:path>
              </a:pathLst>
            </a:custGeom>
            <a:solidFill>
              <a:srgbClr val="F1F0E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5725"/>
              <a:ext cx="1955453" cy="6260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9"/>
                </a:lnSpc>
              </a:pPr>
              <a:r>
                <a:rPr lang="en-US" sz="3499" spc="-97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기술 스택</a:t>
              </a:r>
            </a:p>
            <a:p>
              <a:pPr algn="ctr">
                <a:lnSpc>
                  <a:spcPts val="1837"/>
                </a:lnSpc>
              </a:pPr>
              <a:endParaRPr lang="en-US" sz="3499" spc="-97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FastAPI + Next.js + PostgreSQL</a:t>
              </a: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Hermes 70B / 8B via OpenRouter</a:t>
              </a: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pgvector RAG + PostGIS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24950" y="7078655"/>
            <a:ext cx="7424609" cy="2702630"/>
            <a:chOff x="0" y="0"/>
            <a:chExt cx="1955453" cy="71180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55453" cy="711804"/>
            </a:xfrm>
            <a:custGeom>
              <a:avLst/>
              <a:gdLst/>
              <a:ahLst/>
              <a:cxnLst/>
              <a:rect l="l" t="t" r="r" b="b"/>
              <a:pathLst>
                <a:path w="1955453" h="711804">
                  <a:moveTo>
                    <a:pt x="53180" y="0"/>
                  </a:moveTo>
                  <a:lnTo>
                    <a:pt x="1902273" y="0"/>
                  </a:lnTo>
                  <a:cubicBezTo>
                    <a:pt x="1931643" y="0"/>
                    <a:pt x="1955453" y="23809"/>
                    <a:pt x="1955453" y="53180"/>
                  </a:cubicBezTo>
                  <a:lnTo>
                    <a:pt x="1955453" y="658624"/>
                  </a:lnTo>
                  <a:cubicBezTo>
                    <a:pt x="1955453" y="672728"/>
                    <a:pt x="1949850" y="686255"/>
                    <a:pt x="1939877" y="696228"/>
                  </a:cubicBezTo>
                  <a:cubicBezTo>
                    <a:pt x="1929904" y="706201"/>
                    <a:pt x="1916377" y="711804"/>
                    <a:pt x="1902273" y="711804"/>
                  </a:cubicBezTo>
                  <a:lnTo>
                    <a:pt x="53180" y="711804"/>
                  </a:lnTo>
                  <a:cubicBezTo>
                    <a:pt x="23809" y="711804"/>
                    <a:pt x="0" y="687994"/>
                    <a:pt x="0" y="658624"/>
                  </a:cubicBezTo>
                  <a:lnTo>
                    <a:pt x="0" y="53180"/>
                  </a:lnTo>
                  <a:cubicBezTo>
                    <a:pt x="0" y="39076"/>
                    <a:pt x="5603" y="25549"/>
                    <a:pt x="15576" y="15576"/>
                  </a:cubicBezTo>
                  <a:cubicBezTo>
                    <a:pt x="25549" y="5603"/>
                    <a:pt x="39076" y="0"/>
                    <a:pt x="53180" y="0"/>
                  </a:cubicBezTo>
                  <a:close/>
                </a:path>
              </a:pathLst>
            </a:custGeom>
            <a:solidFill>
              <a:srgbClr val="F1F0E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95250"/>
              <a:ext cx="1955453" cy="6165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r>
                <a:rPr lang="en-US" sz="3500" spc="-98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이번 과제</a:t>
              </a:r>
            </a:p>
            <a:p>
              <a:pPr algn="ctr">
                <a:lnSpc>
                  <a:spcPts val="1837"/>
                </a:lnSpc>
              </a:pPr>
              <a:endParaRPr lang="en-US" sz="3500" spc="-98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이 서비스의 시설 탐색 단계에서</a:t>
              </a: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발견한 병목을 MCP 서버로 해결</a:t>
              </a: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→ 3가지 실험으로 검증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0" y="976470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AutoShape 26"/>
          <p:cNvSpPr/>
          <p:nvPr/>
        </p:nvSpPr>
        <p:spPr>
          <a:xfrm>
            <a:off x="21268" y="707865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000361" y="770151"/>
            <a:ext cx="7835299" cy="4684856"/>
          </a:xfrm>
          <a:custGeom>
            <a:avLst/>
            <a:gdLst/>
            <a:ahLst/>
            <a:cxnLst/>
            <a:rect l="l" t="t" r="r" b="b"/>
            <a:pathLst>
              <a:path w="7835299" h="4684856">
                <a:moveTo>
                  <a:pt x="7835300" y="0"/>
                </a:moveTo>
                <a:lnTo>
                  <a:pt x="0" y="0"/>
                </a:lnTo>
                <a:lnTo>
                  <a:pt x="0" y="4684856"/>
                </a:lnTo>
                <a:lnTo>
                  <a:pt x="7835300" y="4684856"/>
                </a:lnTo>
                <a:lnTo>
                  <a:pt x="783530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942517" y="1192037"/>
            <a:ext cx="11790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 탐색 단계의 병목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254813"/>
            <a:ext cx="7565243" cy="2643432"/>
            <a:chOff x="0" y="0"/>
            <a:chExt cx="1992492" cy="6962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92492" cy="696212"/>
            </a:xfrm>
            <a:custGeom>
              <a:avLst/>
              <a:gdLst/>
              <a:ahLst/>
              <a:cxnLst/>
              <a:rect l="l" t="t" r="r" b="b"/>
              <a:pathLst>
                <a:path w="1992492" h="696212">
                  <a:moveTo>
                    <a:pt x="52191" y="0"/>
                  </a:moveTo>
                  <a:lnTo>
                    <a:pt x="1940301" y="0"/>
                  </a:lnTo>
                  <a:cubicBezTo>
                    <a:pt x="1954143" y="0"/>
                    <a:pt x="1967418" y="5499"/>
                    <a:pt x="1977206" y="15286"/>
                  </a:cubicBezTo>
                  <a:cubicBezTo>
                    <a:pt x="1986993" y="25074"/>
                    <a:pt x="1992492" y="38349"/>
                    <a:pt x="1992492" y="52191"/>
                  </a:cubicBezTo>
                  <a:lnTo>
                    <a:pt x="1992492" y="644021"/>
                  </a:lnTo>
                  <a:cubicBezTo>
                    <a:pt x="1992492" y="672846"/>
                    <a:pt x="1969125" y="696212"/>
                    <a:pt x="1940301" y="696212"/>
                  </a:cubicBezTo>
                  <a:lnTo>
                    <a:pt x="52191" y="696212"/>
                  </a:lnTo>
                  <a:cubicBezTo>
                    <a:pt x="38349" y="696212"/>
                    <a:pt x="25074" y="690714"/>
                    <a:pt x="15286" y="680926"/>
                  </a:cubicBezTo>
                  <a:cubicBezTo>
                    <a:pt x="5499" y="671138"/>
                    <a:pt x="0" y="657863"/>
                    <a:pt x="0" y="644021"/>
                  </a:cubicBezTo>
                  <a:lnTo>
                    <a:pt x="0" y="52191"/>
                  </a:lnTo>
                  <a:cubicBezTo>
                    <a:pt x="0" y="38349"/>
                    <a:pt x="5499" y="25074"/>
                    <a:pt x="15286" y="15286"/>
                  </a:cubicBezTo>
                  <a:cubicBezTo>
                    <a:pt x="25074" y="5499"/>
                    <a:pt x="38349" y="0"/>
                    <a:pt x="52191" y="0"/>
                  </a:cubicBezTo>
                  <a:close/>
                </a:path>
              </a:pathLst>
            </a:custGeom>
            <a:solidFill>
              <a:srgbClr val="F1F0E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04775"/>
              <a:ext cx="1992492" cy="5914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3999" spc="-11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병목 현상</a:t>
              </a:r>
            </a:p>
            <a:p>
              <a:pPr algn="ctr">
                <a:lnSpc>
                  <a:spcPts val="1837"/>
                </a:lnSpc>
              </a:pPr>
              <a:endParaRPr lang="en-US" sz="3999" spc="-11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시설 데이터가 서울 25개에 하드코딩되어 있어,</a:t>
              </a: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사용자 실제 위치와 무관한 시설이 추천된다.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7627335" y="7362361"/>
            <a:ext cx="1797369" cy="523484"/>
          </a:xfrm>
          <a:custGeom>
            <a:avLst/>
            <a:gdLst/>
            <a:ahLst/>
            <a:cxnLst/>
            <a:rect l="l" t="t" r="r" b="b"/>
            <a:pathLst>
              <a:path w="1797369" h="523484">
                <a:moveTo>
                  <a:pt x="0" y="0"/>
                </a:moveTo>
                <a:lnTo>
                  <a:pt x="1797368" y="0"/>
                </a:lnTo>
                <a:lnTo>
                  <a:pt x="1797368" y="523483"/>
                </a:lnTo>
                <a:lnTo>
                  <a:pt x="0" y="523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-143639" y="943696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AutoShape 9"/>
          <p:cNvSpPr/>
          <p:nvPr/>
        </p:nvSpPr>
        <p:spPr>
          <a:xfrm>
            <a:off x="0" y="5890036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295400" y="6452465"/>
            <a:ext cx="5542351" cy="2460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BEFORE - DB </a:t>
            </a: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고정값</a:t>
            </a: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500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데이터가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서울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25개에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하드코딩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수원.부산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사용자도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강남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추천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신규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시설은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재실행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전까지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반영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불가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936692" y="6452465"/>
            <a:ext cx="5217708" cy="2460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AFTER - MCP </a:t>
            </a:r>
            <a:r>
              <a:rPr lang="ko-KR" alt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실시간</a:t>
            </a: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500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사용자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위치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+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종목으로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웹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실시간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검색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주변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즉시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반환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전국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어디서든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신규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시설도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바로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탐색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35509" y="1089824"/>
            <a:ext cx="9569719" cy="1668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MCP 서버</a:t>
            </a:r>
          </a:p>
          <a:p>
            <a:pPr algn="ctr">
              <a:lnSpc>
                <a:spcPts val="1848"/>
              </a:lnSpc>
            </a:pPr>
            <a:endParaRPr lang="en-US" sz="7500" spc="-750">
              <a:solidFill>
                <a:srgbClr val="40B19B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marL="0" lvl="0" indent="0" algn="l">
              <a:lnSpc>
                <a:spcPts val="5005"/>
              </a:lnSpc>
            </a:pPr>
            <a:r>
              <a:rPr lang="en-US" sz="6500" spc="-6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WORKOUT - FACILITY - SEARCH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969898" y="3058854"/>
            <a:ext cx="11500941" cy="1953966"/>
            <a:chOff x="0" y="0"/>
            <a:chExt cx="3029054" cy="5146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29054" cy="514625"/>
            </a:xfrm>
            <a:custGeom>
              <a:avLst/>
              <a:gdLst/>
              <a:ahLst/>
              <a:cxnLst/>
              <a:rect l="l" t="t" r="r" b="b"/>
              <a:pathLst>
                <a:path w="3029054" h="514625">
                  <a:moveTo>
                    <a:pt x="34331" y="0"/>
                  </a:moveTo>
                  <a:lnTo>
                    <a:pt x="2994724" y="0"/>
                  </a:lnTo>
                  <a:cubicBezTo>
                    <a:pt x="3003829" y="0"/>
                    <a:pt x="3012561" y="3617"/>
                    <a:pt x="3018999" y="10055"/>
                  </a:cubicBezTo>
                  <a:cubicBezTo>
                    <a:pt x="3025437" y="16494"/>
                    <a:pt x="3029054" y="25226"/>
                    <a:pt x="3029054" y="34331"/>
                  </a:cubicBezTo>
                  <a:lnTo>
                    <a:pt x="3029054" y="480294"/>
                  </a:lnTo>
                  <a:cubicBezTo>
                    <a:pt x="3029054" y="489399"/>
                    <a:pt x="3025437" y="498131"/>
                    <a:pt x="3018999" y="504570"/>
                  </a:cubicBezTo>
                  <a:cubicBezTo>
                    <a:pt x="3012561" y="511008"/>
                    <a:pt x="3003829" y="514625"/>
                    <a:pt x="2994724" y="514625"/>
                  </a:cubicBezTo>
                  <a:lnTo>
                    <a:pt x="34331" y="514625"/>
                  </a:lnTo>
                  <a:cubicBezTo>
                    <a:pt x="15370" y="514625"/>
                    <a:pt x="0" y="499254"/>
                    <a:pt x="0" y="480294"/>
                  </a:cubicBezTo>
                  <a:lnTo>
                    <a:pt x="0" y="34331"/>
                  </a:lnTo>
                  <a:cubicBezTo>
                    <a:pt x="0" y="25226"/>
                    <a:pt x="3617" y="16494"/>
                    <a:pt x="10055" y="10055"/>
                  </a:cubicBezTo>
                  <a:cubicBezTo>
                    <a:pt x="16494" y="3617"/>
                    <a:pt x="25226" y="0"/>
                    <a:pt x="34331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4775"/>
              <a:ext cx="3029054" cy="409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r>
                <a:rPr lang="en-US" sz="3999" spc="-11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#Hermes에 한 줄로 등록</a:t>
              </a:r>
            </a:p>
            <a:p>
              <a:pPr algn="ctr">
                <a:lnSpc>
                  <a:spcPts val="1837"/>
                </a:lnSpc>
              </a:pPr>
              <a:endParaRPr lang="en-US" sz="3999" spc="-11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249"/>
                </a:lnSpc>
              </a:pPr>
              <a:r>
                <a:rPr lang="en-US" sz="2499" spc="-69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HERMES MCP ADD FACILITY-SEARCH "PYTHON3 FACILITY_SEARCH_SERVER.py"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-143639" y="943696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0" y="5717670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802969" y="6355845"/>
            <a:ext cx="9151325" cy="222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Search_nearby_facilityes( sport,location)</a:t>
            </a:r>
          </a:p>
          <a:p>
            <a:pPr algn="ctr">
              <a:lnSpc>
                <a:spcPts val="3500"/>
              </a:lnSpc>
            </a:pPr>
            <a:endParaRPr lang="en-US" sz="320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DuckDuckGo로 위치+종목 실시간 검색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실설명.URL.설명 반환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*운동 추천 후 주변 시설을 찾아야 할 때 반드시 호출하라*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16418" y="6355845"/>
            <a:ext cx="5576182" cy="2254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get_facility_detail</a:t>
            </a:r>
            <a:r>
              <a:rPr lang="en-US" sz="32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url</a:t>
            </a:r>
            <a:r>
              <a:rPr lang="en-US" sz="32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)</a:t>
            </a:r>
          </a:p>
          <a:p>
            <a:pPr algn="ctr">
              <a:lnSpc>
                <a:spcPts val="3499"/>
              </a:lnSpc>
            </a:pPr>
            <a:endParaRPr lang="en-US" sz="3200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BeautifulSoup으로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페이지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본문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추출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주소.운영시간.가격</a:t>
            </a:r>
            <a:r>
              <a:rPr lang="en-US" sz="2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반환</a:t>
            </a:r>
            <a:endParaRPr lang="en-US" sz="2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2800"/>
              </a:lnSpc>
            </a:pP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*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URL의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상세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정보가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필요할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때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000" dirty="0" err="1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호출하라</a:t>
            </a:r>
            <a:r>
              <a:rPr lang="en-US" sz="2000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*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9189" y="1018581"/>
            <a:ext cx="5573357" cy="3994239"/>
          </a:xfrm>
          <a:custGeom>
            <a:avLst/>
            <a:gdLst/>
            <a:ahLst/>
            <a:cxnLst/>
            <a:rect l="l" t="t" r="r" b="b"/>
            <a:pathLst>
              <a:path w="5573357" h="3994239">
                <a:moveTo>
                  <a:pt x="0" y="0"/>
                </a:moveTo>
                <a:lnTo>
                  <a:pt x="5573357" y="0"/>
                </a:lnTo>
                <a:lnTo>
                  <a:pt x="5573357" y="3994239"/>
                </a:lnTo>
                <a:lnTo>
                  <a:pt x="0" y="3994239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137" y="600891"/>
            <a:ext cx="956971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구조 체크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00519" y="3124938"/>
            <a:ext cx="5693015" cy="3521226"/>
            <a:chOff x="0" y="0"/>
            <a:chExt cx="1499395" cy="9274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99395" cy="927401"/>
            </a:xfrm>
            <a:custGeom>
              <a:avLst/>
              <a:gdLst/>
              <a:ahLst/>
              <a:cxnLst/>
              <a:rect l="l" t="t" r="r" b="b"/>
              <a:pathLst>
                <a:path w="1499395" h="927401">
                  <a:moveTo>
                    <a:pt x="69355" y="0"/>
                  </a:moveTo>
                  <a:lnTo>
                    <a:pt x="1430040" y="0"/>
                  </a:lnTo>
                  <a:cubicBezTo>
                    <a:pt x="1448434" y="0"/>
                    <a:pt x="1466075" y="7307"/>
                    <a:pt x="1479081" y="20314"/>
                  </a:cubicBezTo>
                  <a:cubicBezTo>
                    <a:pt x="1492088" y="33320"/>
                    <a:pt x="1499395" y="50961"/>
                    <a:pt x="1499395" y="69355"/>
                  </a:cubicBezTo>
                  <a:lnTo>
                    <a:pt x="1499395" y="858046"/>
                  </a:lnTo>
                  <a:cubicBezTo>
                    <a:pt x="1499395" y="876440"/>
                    <a:pt x="1492088" y="894081"/>
                    <a:pt x="1479081" y="907087"/>
                  </a:cubicBezTo>
                  <a:cubicBezTo>
                    <a:pt x="1466075" y="920094"/>
                    <a:pt x="1448434" y="927401"/>
                    <a:pt x="1430040" y="927401"/>
                  </a:cubicBezTo>
                  <a:lnTo>
                    <a:pt x="69355" y="927401"/>
                  </a:lnTo>
                  <a:cubicBezTo>
                    <a:pt x="50961" y="927401"/>
                    <a:pt x="33320" y="920094"/>
                    <a:pt x="20314" y="907087"/>
                  </a:cubicBezTo>
                  <a:cubicBezTo>
                    <a:pt x="7307" y="894081"/>
                    <a:pt x="0" y="876440"/>
                    <a:pt x="0" y="858046"/>
                  </a:cubicBezTo>
                  <a:lnTo>
                    <a:pt x="0" y="69355"/>
                  </a:lnTo>
                  <a:cubicBezTo>
                    <a:pt x="0" y="50961"/>
                    <a:pt x="7307" y="33320"/>
                    <a:pt x="20314" y="20314"/>
                  </a:cubicBezTo>
                  <a:cubicBezTo>
                    <a:pt x="33320" y="7307"/>
                    <a:pt x="50961" y="0"/>
                    <a:pt x="69355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1499395" cy="870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셀 6 — 함수 정의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dEF WEB_SEARCH(QUERY): ...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DEF FETCH_URL(URL): ...</a:t>
              </a:r>
            </a:p>
            <a:p>
              <a:pPr algn="ctr">
                <a:lnSpc>
                  <a:spcPts val="2069"/>
                </a:lnSpc>
              </a:pPr>
              <a:endParaRPr lang="en-US" sz="2299" spc="-64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셀 7 — JSON 스키마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TOOLS = [{"NAME": "WEB_SEARCH", ...}]</a:t>
              </a:r>
            </a:p>
            <a:p>
              <a:pPr algn="ctr">
                <a:lnSpc>
                  <a:spcPts val="2069"/>
                </a:lnSpc>
              </a:pPr>
              <a:endParaRPr lang="en-US" sz="2299" spc="-64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셀 8 — 파싱 + 실행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PARSE_TOOL_CALL(RESPONSE)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TOOL_FUNCTIONS[NAME](**ARGS)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-71819" y="7197663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71819" y="1596690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901926" y="2311574"/>
            <a:ext cx="4090199" cy="1626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노트북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(</a:t>
            </a: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셀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6.7.8)</a:t>
            </a:r>
          </a:p>
          <a:p>
            <a:pPr algn="ctr">
              <a:lnSpc>
                <a:spcPts val="3500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402755" y="3124938"/>
            <a:ext cx="5693015" cy="3521226"/>
            <a:chOff x="0" y="0"/>
            <a:chExt cx="1499395" cy="9274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99395" cy="927401"/>
            </a:xfrm>
            <a:custGeom>
              <a:avLst/>
              <a:gdLst/>
              <a:ahLst/>
              <a:cxnLst/>
              <a:rect l="l" t="t" r="r" b="b"/>
              <a:pathLst>
                <a:path w="1499395" h="927401">
                  <a:moveTo>
                    <a:pt x="69355" y="0"/>
                  </a:moveTo>
                  <a:lnTo>
                    <a:pt x="1430040" y="0"/>
                  </a:lnTo>
                  <a:cubicBezTo>
                    <a:pt x="1448434" y="0"/>
                    <a:pt x="1466075" y="7307"/>
                    <a:pt x="1479081" y="20314"/>
                  </a:cubicBezTo>
                  <a:cubicBezTo>
                    <a:pt x="1492088" y="33320"/>
                    <a:pt x="1499395" y="50961"/>
                    <a:pt x="1499395" y="69355"/>
                  </a:cubicBezTo>
                  <a:lnTo>
                    <a:pt x="1499395" y="858046"/>
                  </a:lnTo>
                  <a:cubicBezTo>
                    <a:pt x="1499395" y="876440"/>
                    <a:pt x="1492088" y="894081"/>
                    <a:pt x="1479081" y="907087"/>
                  </a:cubicBezTo>
                  <a:cubicBezTo>
                    <a:pt x="1466075" y="920094"/>
                    <a:pt x="1448434" y="927401"/>
                    <a:pt x="1430040" y="927401"/>
                  </a:cubicBezTo>
                  <a:lnTo>
                    <a:pt x="69355" y="927401"/>
                  </a:lnTo>
                  <a:cubicBezTo>
                    <a:pt x="50961" y="927401"/>
                    <a:pt x="33320" y="920094"/>
                    <a:pt x="20314" y="907087"/>
                  </a:cubicBezTo>
                  <a:cubicBezTo>
                    <a:pt x="7307" y="894081"/>
                    <a:pt x="0" y="876440"/>
                    <a:pt x="0" y="858046"/>
                  </a:cubicBezTo>
                  <a:lnTo>
                    <a:pt x="0" y="69355"/>
                  </a:lnTo>
                  <a:cubicBezTo>
                    <a:pt x="0" y="50961"/>
                    <a:pt x="7307" y="33320"/>
                    <a:pt x="20314" y="20314"/>
                  </a:cubicBezTo>
                  <a:cubicBezTo>
                    <a:pt x="33320" y="7307"/>
                    <a:pt x="50961" y="0"/>
                    <a:pt x="69355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1499395" cy="8702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함수 정의 — 동일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dEF SEARCH_NEARBY_FACILITIES(): ...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DEF GET_FACILITY_DETAIL(): ...</a:t>
              </a:r>
            </a:p>
            <a:p>
              <a:pPr algn="ctr">
                <a:lnSpc>
                  <a:spcPts val="2069"/>
                </a:lnSpc>
              </a:pPr>
              <a:endParaRPr lang="en-US" sz="2299" spc="-64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스키마 — 자동 생성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@MCP.TOOL() # DOCSTRING에서 추출</a:t>
              </a:r>
            </a:p>
            <a:p>
              <a:pPr algn="ctr">
                <a:lnSpc>
                  <a:spcPts val="2069"/>
                </a:lnSpc>
              </a:pPr>
              <a:endParaRPr lang="en-US" sz="2299" spc="-64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# 파싱 + 실행 — 자동 처리</a:t>
              </a:r>
            </a:p>
            <a:p>
              <a:pPr algn="ctr">
                <a:lnSpc>
                  <a:spcPts val="2069"/>
                </a:lnSpc>
              </a:pPr>
              <a:r>
                <a:rPr lang="en-US" sz="2299" spc="-64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MCP 프로토콜이 자동으로 처리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471311" y="1850117"/>
            <a:ext cx="5555903" cy="156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MCP 서버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(FACILITY_SEARCH_SERVER.PY)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008928" y="7635813"/>
            <a:ext cx="12764471" cy="3530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공통점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: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매커니즘</a:t>
            </a:r>
            <a:endParaRPr lang="en-US" sz="5000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l">
              <a:lnSpc>
                <a:spcPts val="7000"/>
              </a:lnSpc>
            </a:pP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차이점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: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서버로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분리되어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어디서든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재사용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가능</a:t>
            </a:r>
            <a:endParaRPr lang="en-US" sz="5000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7000"/>
              </a:lnSpc>
            </a:pPr>
            <a:endParaRPr lang="en-US" sz="5000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7000"/>
              </a:lnSpc>
            </a:pPr>
            <a:endParaRPr lang="en-US" sz="5000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137" y="669268"/>
            <a:ext cx="956971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비교 실험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8147465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104268" y="1856104"/>
            <a:ext cx="873770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항목</a:t>
            </a:r>
          </a:p>
          <a:p>
            <a:pPr algn="ctr">
              <a:lnSpc>
                <a:spcPts val="34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15547" y="8252810"/>
            <a:ext cx="8140898" cy="214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7"/>
              </a:lnSpc>
            </a:pP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MCP X —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실제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출력</a:t>
            </a:r>
            <a:endParaRPr lang="en-US" sz="351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4087"/>
              </a:lnSpc>
            </a:pPr>
            <a:r>
              <a:rPr lang="en-US" sz="29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"</a:t>
            </a:r>
            <a:r>
              <a:rPr lang="en-US" sz="29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클라이밍센터</a:t>
            </a:r>
            <a:r>
              <a:rPr lang="en-US" sz="29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9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홍대점</a:t>
            </a:r>
            <a:r>
              <a:rPr lang="en-US" sz="29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, </a:t>
            </a:r>
            <a:r>
              <a:rPr lang="en-US" sz="29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서교동</a:t>
            </a:r>
            <a:r>
              <a:rPr lang="en-US" sz="29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364-1, 02-334-1544"</a:t>
            </a:r>
          </a:p>
          <a:p>
            <a:pPr algn="ctr">
              <a:lnSpc>
                <a:spcPts val="4087"/>
              </a:lnSpc>
            </a:pPr>
            <a:r>
              <a:rPr lang="en-US" sz="29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→ </a:t>
            </a:r>
            <a:r>
              <a:rPr lang="en-US" sz="29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실제로</a:t>
            </a:r>
            <a:r>
              <a:rPr lang="en-US" sz="29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9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존재하지</a:t>
            </a:r>
            <a:r>
              <a:rPr lang="en-US" sz="29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9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않는</a:t>
            </a:r>
            <a:r>
              <a:rPr lang="en-US" sz="29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29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시설</a:t>
            </a:r>
            <a:endParaRPr lang="en-US" sz="2919" dirty="0">
              <a:solidFill>
                <a:srgbClr val="FF3131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4087"/>
              </a:lnSpc>
            </a:pPr>
            <a:endParaRPr lang="en-US" sz="2919" dirty="0">
              <a:solidFill>
                <a:srgbClr val="FF3131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819" y="2696144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-71819" y="4405454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0" y="6276459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588852" y="1883470"/>
            <a:ext cx="1750015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MCP X</a:t>
            </a:r>
          </a:p>
          <a:p>
            <a:pPr algn="ctr">
              <a:lnSpc>
                <a:spcPts val="3499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20086" y="1869418"/>
            <a:ext cx="3115713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잘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만든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MCP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478887" y="1879145"/>
            <a:ext cx="3115713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망가뜨린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MCP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6948" y="3259279"/>
            <a:ext cx="1808411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도구 호출</a:t>
            </a:r>
          </a:p>
          <a:p>
            <a:pPr algn="ctr">
              <a:lnSpc>
                <a:spcPts val="34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28601" y="4967429"/>
            <a:ext cx="2506304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결과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정확도</a:t>
            </a: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3499"/>
              </a:lnSpc>
            </a:pP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6633" y="6838434"/>
            <a:ext cx="1849041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소요 시간</a:t>
            </a:r>
          </a:p>
          <a:p>
            <a:pPr algn="ctr">
              <a:lnSpc>
                <a:spcPts val="34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064006" y="3259279"/>
            <a:ext cx="70767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0회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69596" y="3259279"/>
            <a:ext cx="6207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26363" y="3259279"/>
            <a:ext cx="6207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87209" y="4967429"/>
            <a:ext cx="326127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환각(없는 시설)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94747" y="5034454"/>
            <a:ext cx="188967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실제 시설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335453" y="5034454"/>
            <a:ext cx="188967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실제 시설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0958" y="6838434"/>
            <a:ext cx="1353293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9.2초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94932" y="6905109"/>
            <a:ext cx="1477867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18.1초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03641" y="6824612"/>
            <a:ext cx="1477866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12.9초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7074" y="3517626"/>
            <a:ext cx="5693015" cy="3521226"/>
            <a:chOff x="0" y="0"/>
            <a:chExt cx="1499395" cy="927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9395" cy="927401"/>
            </a:xfrm>
            <a:custGeom>
              <a:avLst/>
              <a:gdLst/>
              <a:ahLst/>
              <a:cxnLst/>
              <a:rect l="l" t="t" r="r" b="b"/>
              <a:pathLst>
                <a:path w="1499395" h="927401">
                  <a:moveTo>
                    <a:pt x="69355" y="0"/>
                  </a:moveTo>
                  <a:lnTo>
                    <a:pt x="1430040" y="0"/>
                  </a:lnTo>
                  <a:cubicBezTo>
                    <a:pt x="1448434" y="0"/>
                    <a:pt x="1466075" y="7307"/>
                    <a:pt x="1479081" y="20314"/>
                  </a:cubicBezTo>
                  <a:cubicBezTo>
                    <a:pt x="1492088" y="33320"/>
                    <a:pt x="1499395" y="50961"/>
                    <a:pt x="1499395" y="69355"/>
                  </a:cubicBezTo>
                  <a:lnTo>
                    <a:pt x="1499395" y="858046"/>
                  </a:lnTo>
                  <a:cubicBezTo>
                    <a:pt x="1499395" y="876440"/>
                    <a:pt x="1492088" y="894081"/>
                    <a:pt x="1479081" y="907087"/>
                  </a:cubicBezTo>
                  <a:cubicBezTo>
                    <a:pt x="1466075" y="920094"/>
                    <a:pt x="1448434" y="927401"/>
                    <a:pt x="1430040" y="927401"/>
                  </a:cubicBezTo>
                  <a:lnTo>
                    <a:pt x="69355" y="927401"/>
                  </a:lnTo>
                  <a:cubicBezTo>
                    <a:pt x="50961" y="927401"/>
                    <a:pt x="33320" y="920094"/>
                    <a:pt x="20314" y="907087"/>
                  </a:cubicBezTo>
                  <a:cubicBezTo>
                    <a:pt x="7307" y="894081"/>
                    <a:pt x="0" y="876440"/>
                    <a:pt x="0" y="858046"/>
                  </a:cubicBezTo>
                  <a:lnTo>
                    <a:pt x="0" y="69355"/>
                  </a:lnTo>
                  <a:cubicBezTo>
                    <a:pt x="0" y="50961"/>
                    <a:pt x="7307" y="33320"/>
                    <a:pt x="20314" y="20314"/>
                  </a:cubicBezTo>
                  <a:cubicBezTo>
                    <a:pt x="33320" y="7307"/>
                    <a:pt x="50961" y="0"/>
                    <a:pt x="69355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6200"/>
              <a:ext cx="1499395" cy="851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 dirty="0" err="1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dESCRIPTION</a:t>
              </a:r>
              <a:r>
                <a:rPr lang="en-US" sz="2999" spc="-83" dirty="0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:</a:t>
              </a:r>
            </a:p>
            <a:p>
              <a:pPr algn="ctr">
                <a:lnSpc>
                  <a:spcPts val="2699"/>
                </a:lnSpc>
              </a:pPr>
              <a:endParaRPr lang="en-US" sz="2999" spc="-83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"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운동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추천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후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주변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시설을</a:t>
              </a:r>
              <a:endParaRPr lang="en-US" sz="2999" spc="-83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찾아야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할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때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반드시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호출하라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"</a:t>
              </a:r>
            </a:p>
            <a:p>
              <a:pPr algn="ctr">
                <a:lnSpc>
                  <a:spcPts val="2699"/>
                </a:lnSpc>
              </a:pPr>
              <a:endParaRPr lang="en-US" sz="2999" spc="-83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 dirty="0" err="1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결과</a:t>
              </a:r>
              <a:r>
                <a:rPr lang="en-US" sz="2999" spc="-83" dirty="0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:</a:t>
              </a:r>
            </a:p>
            <a:p>
              <a:pPr algn="ctr">
                <a:lnSpc>
                  <a:spcPts val="2699"/>
                </a:lnSpc>
              </a:pPr>
              <a:endParaRPr lang="en-US" sz="2999" spc="-83" dirty="0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→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도구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호출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</a:p>
            <a:p>
              <a:pPr algn="ctr">
                <a:lnSpc>
                  <a:spcPts val="2699"/>
                </a:lnSpc>
              </a:pP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→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실제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시설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  <a:r>
                <a:rPr lang="en-US" sz="2999" spc="-83" dirty="0" err="1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반환</a:t>
              </a:r>
              <a:r>
                <a:rPr lang="en-US" sz="2999" spc="-83" dirty="0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 </a:t>
              </a:r>
            </a:p>
          </p:txBody>
        </p:sp>
      </p:grpSp>
      <p:sp>
        <p:nvSpPr>
          <p:cNvPr id="5" name="AutoShape 5"/>
          <p:cNvSpPr/>
          <p:nvPr/>
        </p:nvSpPr>
        <p:spPr>
          <a:xfrm>
            <a:off x="-71819" y="7590351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71819" y="1989378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10158568" y="3517626"/>
            <a:ext cx="5693015" cy="3521226"/>
            <a:chOff x="0" y="0"/>
            <a:chExt cx="1499395" cy="927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99395" cy="927401"/>
            </a:xfrm>
            <a:custGeom>
              <a:avLst/>
              <a:gdLst/>
              <a:ahLst/>
              <a:cxnLst/>
              <a:rect l="l" t="t" r="r" b="b"/>
              <a:pathLst>
                <a:path w="1499395" h="927401">
                  <a:moveTo>
                    <a:pt x="69355" y="0"/>
                  </a:moveTo>
                  <a:lnTo>
                    <a:pt x="1430040" y="0"/>
                  </a:lnTo>
                  <a:cubicBezTo>
                    <a:pt x="1448434" y="0"/>
                    <a:pt x="1466075" y="7307"/>
                    <a:pt x="1479081" y="20314"/>
                  </a:cubicBezTo>
                  <a:cubicBezTo>
                    <a:pt x="1492088" y="33320"/>
                    <a:pt x="1499395" y="50961"/>
                    <a:pt x="1499395" y="69355"/>
                  </a:cubicBezTo>
                  <a:lnTo>
                    <a:pt x="1499395" y="858046"/>
                  </a:lnTo>
                  <a:cubicBezTo>
                    <a:pt x="1499395" y="876440"/>
                    <a:pt x="1492088" y="894081"/>
                    <a:pt x="1479081" y="907087"/>
                  </a:cubicBezTo>
                  <a:cubicBezTo>
                    <a:pt x="1466075" y="920094"/>
                    <a:pt x="1448434" y="927401"/>
                    <a:pt x="1430040" y="927401"/>
                  </a:cubicBezTo>
                  <a:lnTo>
                    <a:pt x="69355" y="927401"/>
                  </a:lnTo>
                  <a:cubicBezTo>
                    <a:pt x="50961" y="927401"/>
                    <a:pt x="33320" y="920094"/>
                    <a:pt x="20314" y="907087"/>
                  </a:cubicBezTo>
                  <a:cubicBezTo>
                    <a:pt x="7307" y="894081"/>
                    <a:pt x="0" y="876440"/>
                    <a:pt x="0" y="858046"/>
                  </a:cubicBezTo>
                  <a:lnTo>
                    <a:pt x="0" y="69355"/>
                  </a:lnTo>
                  <a:cubicBezTo>
                    <a:pt x="0" y="50961"/>
                    <a:pt x="7307" y="33320"/>
                    <a:pt x="20314" y="20314"/>
                  </a:cubicBezTo>
                  <a:cubicBezTo>
                    <a:pt x="33320" y="7307"/>
                    <a:pt x="50961" y="0"/>
                    <a:pt x="69355" y="0"/>
                  </a:cubicBezTo>
                  <a:close/>
                </a:path>
              </a:pathLst>
            </a:custGeom>
            <a:solidFill>
              <a:srgbClr val="D9D9D9"/>
            </a:solidFill>
            <a:ln w="38100" cap="rnd">
              <a:solidFill>
                <a:srgbClr val="D9D9D9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6200"/>
              <a:ext cx="1499395" cy="851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dESCRIPTION:</a:t>
              </a:r>
            </a:p>
            <a:p>
              <a:pPr algn="ctr">
                <a:lnSpc>
                  <a:spcPts val="2699"/>
                </a:lnSpc>
              </a:pPr>
              <a:endParaRPr lang="en-US" sz="2999" spc="-83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"날씨 정보를 조회한다.</a:t>
              </a:r>
            </a:p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시설 검색에는 사용하지 말 것"</a:t>
              </a:r>
            </a:p>
            <a:p>
              <a:pPr algn="ctr">
                <a:lnSpc>
                  <a:spcPts val="2699"/>
                </a:lnSpc>
              </a:pPr>
              <a:endParaRPr lang="en-US" sz="2999" spc="-83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737373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결과:</a:t>
              </a:r>
            </a:p>
            <a:p>
              <a:pPr algn="ctr">
                <a:lnSpc>
                  <a:spcPts val="2699"/>
                </a:lnSpc>
              </a:pPr>
              <a:endParaRPr lang="en-US" sz="2999" spc="-83">
                <a:solidFill>
                  <a:srgbClr val="737373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→ </a:t>
              </a:r>
              <a:r>
                <a:rPr lang="en-US" sz="2999" spc="-83">
                  <a:solidFill>
                    <a:srgbClr val="FF3131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도구 호출 </a:t>
              </a:r>
            </a:p>
            <a:p>
              <a:pPr algn="ctr">
                <a:lnSpc>
                  <a:spcPts val="2699"/>
                </a:lnSpc>
              </a:pPr>
              <a:r>
                <a:rPr lang="en-US" sz="2999" spc="-83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→ </a:t>
              </a:r>
              <a:r>
                <a:rPr lang="en-US" sz="2999" spc="-83">
                  <a:solidFill>
                    <a:srgbClr val="FF3131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실제 시설 반환 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8122260" y="4418479"/>
            <a:ext cx="1124136" cy="1719520"/>
          </a:xfrm>
          <a:custGeom>
            <a:avLst/>
            <a:gdLst/>
            <a:ahLst/>
            <a:cxnLst/>
            <a:rect l="l" t="t" r="r" b="b"/>
            <a:pathLst>
              <a:path w="1124136" h="1719520">
                <a:moveTo>
                  <a:pt x="0" y="0"/>
                </a:moveTo>
                <a:lnTo>
                  <a:pt x="1124136" y="0"/>
                </a:lnTo>
                <a:lnTo>
                  <a:pt x="1124136" y="1719519"/>
                </a:lnTo>
                <a:lnTo>
                  <a:pt x="0" y="17195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4201137" y="600891"/>
            <a:ext cx="956971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결과 비교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12436" y="2695717"/>
            <a:ext cx="3369159" cy="1350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잘</a:t>
            </a:r>
            <a:r>
              <a:rPr lang="en-US" sz="4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44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만든</a:t>
            </a:r>
            <a:r>
              <a:rPr lang="en-US" sz="44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MCP</a:t>
            </a:r>
          </a:p>
          <a:p>
            <a:pPr algn="ctr">
              <a:lnSpc>
                <a:spcPts val="4199"/>
              </a:lnSpc>
            </a:pPr>
            <a:endParaRPr lang="en-US" sz="44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88802" y="8026338"/>
            <a:ext cx="16510397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질문이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명확하면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description이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틀려도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모델이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도구를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사용한다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.</a:t>
            </a:r>
          </a:p>
          <a:p>
            <a:pPr algn="ctr">
              <a:lnSpc>
                <a:spcPts val="7000"/>
              </a:lnSpc>
            </a:pP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도구가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여러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개일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때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잘못된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도구를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부를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확률이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있다</a:t>
            </a:r>
            <a:r>
              <a:rPr lang="en-US" sz="50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8819" y="2673076"/>
            <a:ext cx="3192512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망가뜨린 MCP</a:t>
            </a:r>
          </a:p>
          <a:p>
            <a:pPr algn="ctr">
              <a:lnSpc>
                <a:spcPts val="4199"/>
              </a:lnSpc>
            </a:pPr>
            <a:endParaRPr lang="en-US" sz="44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137" y="669268"/>
            <a:ext cx="956971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75"/>
              </a:lnSpc>
            </a:pPr>
            <a:r>
              <a:rPr lang="en-US" sz="7500" spc="-750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Orchestration 벤치마크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8302563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4"/>
          <p:cNvSpPr txBox="1"/>
          <p:nvPr/>
        </p:nvSpPr>
        <p:spPr>
          <a:xfrm>
            <a:off x="1104268" y="1856104"/>
            <a:ext cx="873770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항목</a:t>
            </a:r>
          </a:p>
          <a:p>
            <a:pPr algn="ctr">
              <a:lnSpc>
                <a:spcPts val="34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18919" y="8607363"/>
            <a:ext cx="11501466" cy="1782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27"/>
              </a:lnSpc>
            </a:pP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병렬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Sub-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agent가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토큰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효율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최고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(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싱글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대비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66% </a:t>
            </a:r>
            <a:r>
              <a:rPr lang="en-US" sz="351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절감</a:t>
            </a: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)</a:t>
            </a:r>
          </a:p>
          <a:p>
            <a:pPr algn="ctr">
              <a:lnSpc>
                <a:spcPts val="4927"/>
              </a:lnSpc>
            </a:pPr>
            <a:r>
              <a:rPr lang="en-US" sz="351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→ </a:t>
            </a:r>
            <a:r>
              <a:rPr lang="en-US" sz="35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이</a:t>
            </a:r>
            <a:r>
              <a:rPr lang="en-US" sz="35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작업엔</a:t>
            </a:r>
            <a:r>
              <a:rPr lang="en-US" sz="35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sub-</a:t>
            </a:r>
            <a:r>
              <a:rPr lang="en-US" sz="35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agent가</a:t>
            </a:r>
            <a:r>
              <a:rPr lang="en-US" sz="351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519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정답</a:t>
            </a:r>
            <a:endParaRPr lang="en-US" sz="3519" dirty="0">
              <a:solidFill>
                <a:srgbClr val="FF3131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  <a:p>
            <a:pPr algn="ctr">
              <a:lnSpc>
                <a:spcPts val="4087"/>
              </a:lnSpc>
            </a:pPr>
            <a:endParaRPr lang="en-US" sz="3519" dirty="0">
              <a:solidFill>
                <a:srgbClr val="FF3131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819" y="2696144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0" y="4034373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0" y="5468422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56439" y="1869418"/>
            <a:ext cx="2722811" cy="11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싱글 에이전트</a:t>
            </a:r>
          </a:p>
          <a:p>
            <a:pPr algn="ctr">
              <a:lnSpc>
                <a:spcPts val="34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001000" y="1878943"/>
            <a:ext cx="4495800" cy="566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PLANNER + EXECUTOR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5000" y="1878943"/>
            <a:ext cx="3714570" cy="591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dirty="0" err="1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병렬</a:t>
            </a:r>
            <a:r>
              <a:rPr lang="en-US" sz="3600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SUB-AGENT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3440" y="3031073"/>
            <a:ext cx="1849041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소요 시간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040" y="4380404"/>
            <a:ext cx="1391841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총 토큰</a:t>
            </a:r>
          </a:p>
          <a:p>
            <a:pPr algn="ctr">
              <a:lnSpc>
                <a:spcPts val="5599"/>
              </a:lnSpc>
            </a:pPr>
            <a:endParaRPr lang="en-US" sz="3999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1513" y="5795447"/>
            <a:ext cx="233928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LLM 호출수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2882" y="2977908"/>
            <a:ext cx="1492435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72.4초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2977908"/>
            <a:ext cx="1579301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28.8초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20385" y="3031073"/>
            <a:ext cx="1492435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26.4초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000" y="4454525"/>
            <a:ext cx="1173357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3092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07812" y="4454525"/>
            <a:ext cx="1173357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1188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86752" y="7212517"/>
            <a:ext cx="6207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1곳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29201" y="7182922"/>
            <a:ext cx="6207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1곳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520385" y="7212517"/>
            <a:ext cx="165348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3곳 동시</a:t>
            </a:r>
          </a:p>
        </p:txBody>
      </p:sp>
      <p:sp>
        <p:nvSpPr>
          <p:cNvPr id="23" name="AutoShape 23"/>
          <p:cNvSpPr/>
          <p:nvPr/>
        </p:nvSpPr>
        <p:spPr>
          <a:xfrm>
            <a:off x="0" y="6897172"/>
            <a:ext cx="18288000" cy="0"/>
          </a:xfrm>
          <a:prstGeom prst="line">
            <a:avLst/>
          </a:prstGeom>
          <a:ln w="19050" cap="flat">
            <a:solidFill>
              <a:srgbClr val="1E1E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Box 24"/>
          <p:cNvSpPr txBox="1"/>
          <p:nvPr/>
        </p:nvSpPr>
        <p:spPr>
          <a:xfrm>
            <a:off x="371514" y="7212517"/>
            <a:ext cx="2070968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커버</a:t>
            </a: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 </a:t>
            </a:r>
            <a:r>
              <a:rPr lang="en-US" sz="3999" dirty="0" err="1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지역</a:t>
            </a:r>
            <a:endParaRPr lang="en-US" sz="3999" dirty="0">
              <a:solidFill>
                <a:srgbClr val="000000"/>
              </a:solidFill>
              <a:latin typeface="210 연필스케치"/>
              <a:ea typeface="210 연필스케치"/>
              <a:cs typeface="210 연필스케치"/>
              <a:sym typeface="210 연필스케치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849916" y="4454525"/>
            <a:ext cx="1391841" cy="661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dirty="0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3483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078740" y="5839897"/>
            <a:ext cx="67821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3회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73316" y="5795447"/>
            <a:ext cx="73253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4회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013365" y="5795447"/>
            <a:ext cx="6207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3131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1회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6168" y="2079696"/>
            <a:ext cx="8631027" cy="6325824"/>
          </a:xfrm>
          <a:custGeom>
            <a:avLst/>
            <a:gdLst/>
            <a:ahLst/>
            <a:cxnLst/>
            <a:rect l="l" t="t" r="r" b="b"/>
            <a:pathLst>
              <a:path w="8631027" h="6325824">
                <a:moveTo>
                  <a:pt x="0" y="0"/>
                </a:moveTo>
                <a:lnTo>
                  <a:pt x="8631027" y="0"/>
                </a:lnTo>
                <a:lnTo>
                  <a:pt x="8631027" y="6325824"/>
                </a:lnTo>
                <a:lnTo>
                  <a:pt x="0" y="6325824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12259464" y="1279146"/>
            <a:ext cx="7107497" cy="1257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11998" spc="-1199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SUMMARY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816086" y="2631619"/>
            <a:ext cx="9145057" cy="2008901"/>
            <a:chOff x="0" y="0"/>
            <a:chExt cx="2408575" cy="5290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575" cy="529093"/>
            </a:xfrm>
            <a:custGeom>
              <a:avLst/>
              <a:gdLst/>
              <a:ahLst/>
              <a:cxnLst/>
              <a:rect l="l" t="t" r="r" b="b"/>
              <a:pathLst>
                <a:path w="2408575" h="529093">
                  <a:moveTo>
                    <a:pt x="43175" y="0"/>
                  </a:moveTo>
                  <a:lnTo>
                    <a:pt x="2365400" y="0"/>
                  </a:lnTo>
                  <a:cubicBezTo>
                    <a:pt x="2389245" y="0"/>
                    <a:pt x="2408575" y="19330"/>
                    <a:pt x="2408575" y="43175"/>
                  </a:cubicBezTo>
                  <a:lnTo>
                    <a:pt x="2408575" y="485918"/>
                  </a:lnTo>
                  <a:cubicBezTo>
                    <a:pt x="2408575" y="509763"/>
                    <a:pt x="2389245" y="529093"/>
                    <a:pt x="2365400" y="529093"/>
                  </a:cubicBezTo>
                  <a:lnTo>
                    <a:pt x="43175" y="529093"/>
                  </a:lnTo>
                  <a:cubicBezTo>
                    <a:pt x="19330" y="529093"/>
                    <a:pt x="0" y="509763"/>
                    <a:pt x="0" y="485918"/>
                  </a:cubicBezTo>
                  <a:lnTo>
                    <a:pt x="0" y="43175"/>
                  </a:lnTo>
                  <a:cubicBezTo>
                    <a:pt x="0" y="19330"/>
                    <a:pt x="19330" y="0"/>
                    <a:pt x="43175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5725"/>
              <a:ext cx="2408575" cy="443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149"/>
                </a:lnSpc>
              </a:pPr>
              <a:r>
                <a:rPr lang="en-US" sz="3499" spc="-97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1.Description이 LLM 행동을 결정한다.</a:t>
              </a:r>
            </a:p>
            <a:p>
              <a:pPr algn="r">
                <a:lnSpc>
                  <a:spcPts val="1837"/>
                </a:lnSpc>
              </a:pPr>
              <a:endParaRPr lang="en-US" sz="3499" spc="-97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코드가 완벽해도 DESCRIPTION이 모호하면 도구를 안 부른다.</a:t>
              </a: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단, 컨텍스트가 충분히 명확하면 거짓 description에도 도구를 호출한다.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23985" y="4640520"/>
            <a:ext cx="9145057" cy="2008901"/>
            <a:chOff x="0" y="0"/>
            <a:chExt cx="2408575" cy="5290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08575" cy="529093"/>
            </a:xfrm>
            <a:custGeom>
              <a:avLst/>
              <a:gdLst/>
              <a:ahLst/>
              <a:cxnLst/>
              <a:rect l="l" t="t" r="r" b="b"/>
              <a:pathLst>
                <a:path w="2408575" h="529093">
                  <a:moveTo>
                    <a:pt x="43175" y="0"/>
                  </a:moveTo>
                  <a:lnTo>
                    <a:pt x="2365400" y="0"/>
                  </a:lnTo>
                  <a:cubicBezTo>
                    <a:pt x="2389245" y="0"/>
                    <a:pt x="2408575" y="19330"/>
                    <a:pt x="2408575" y="43175"/>
                  </a:cubicBezTo>
                  <a:lnTo>
                    <a:pt x="2408575" y="485918"/>
                  </a:lnTo>
                  <a:cubicBezTo>
                    <a:pt x="2408575" y="509763"/>
                    <a:pt x="2389245" y="529093"/>
                    <a:pt x="2365400" y="529093"/>
                  </a:cubicBezTo>
                  <a:lnTo>
                    <a:pt x="43175" y="529093"/>
                  </a:lnTo>
                  <a:cubicBezTo>
                    <a:pt x="19330" y="529093"/>
                    <a:pt x="0" y="509763"/>
                    <a:pt x="0" y="485918"/>
                  </a:cubicBezTo>
                  <a:lnTo>
                    <a:pt x="0" y="43175"/>
                  </a:lnTo>
                  <a:cubicBezTo>
                    <a:pt x="0" y="19330"/>
                    <a:pt x="19330" y="0"/>
                    <a:pt x="43175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2408575" cy="443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149"/>
                </a:lnSpc>
              </a:pPr>
              <a:r>
                <a:rPr lang="en-US" sz="3499" spc="-97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2.MCP 없는 LLM은 반드시 실패한다.</a:t>
              </a:r>
            </a:p>
            <a:p>
              <a:pPr algn="r">
                <a:lnSpc>
                  <a:spcPts val="1837"/>
                </a:lnSpc>
              </a:pPr>
              <a:endParaRPr lang="en-US" sz="3499" spc="-97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환각이거나 거부거나 둘 다 사용자에겐 쓸모없다.</a:t>
              </a: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실시간 정보가 필요한 작업은 도구 없이 해결 불가능하다.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23985" y="6743483"/>
            <a:ext cx="9145057" cy="2008901"/>
            <a:chOff x="0" y="0"/>
            <a:chExt cx="2408575" cy="5290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8575" cy="529093"/>
            </a:xfrm>
            <a:custGeom>
              <a:avLst/>
              <a:gdLst/>
              <a:ahLst/>
              <a:cxnLst/>
              <a:rect l="l" t="t" r="r" b="b"/>
              <a:pathLst>
                <a:path w="2408575" h="529093">
                  <a:moveTo>
                    <a:pt x="43175" y="0"/>
                  </a:moveTo>
                  <a:lnTo>
                    <a:pt x="2365400" y="0"/>
                  </a:lnTo>
                  <a:cubicBezTo>
                    <a:pt x="2389245" y="0"/>
                    <a:pt x="2408575" y="19330"/>
                    <a:pt x="2408575" y="43175"/>
                  </a:cubicBezTo>
                  <a:lnTo>
                    <a:pt x="2408575" y="485918"/>
                  </a:lnTo>
                  <a:cubicBezTo>
                    <a:pt x="2408575" y="509763"/>
                    <a:pt x="2389245" y="529093"/>
                    <a:pt x="2365400" y="529093"/>
                  </a:cubicBezTo>
                  <a:lnTo>
                    <a:pt x="43175" y="529093"/>
                  </a:lnTo>
                  <a:cubicBezTo>
                    <a:pt x="19330" y="529093"/>
                    <a:pt x="0" y="509763"/>
                    <a:pt x="0" y="485918"/>
                  </a:cubicBezTo>
                  <a:lnTo>
                    <a:pt x="0" y="43175"/>
                  </a:lnTo>
                  <a:cubicBezTo>
                    <a:pt x="0" y="19330"/>
                    <a:pt x="19330" y="0"/>
                    <a:pt x="43175" y="0"/>
                  </a:cubicBezTo>
                  <a:close/>
                </a:path>
              </a:pathLst>
            </a:custGeom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2408575" cy="443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r">
                <a:lnSpc>
                  <a:spcPts val="3149"/>
                </a:lnSpc>
              </a:pPr>
              <a:r>
                <a:rPr lang="en-US" sz="3499" spc="-97">
                  <a:solidFill>
                    <a:srgbClr val="000000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3.패턴은 작업 특성에 따라 다르다.</a:t>
              </a:r>
            </a:p>
            <a:p>
              <a:pPr algn="r">
                <a:lnSpc>
                  <a:spcPts val="1837"/>
                </a:lnSpc>
              </a:pPr>
              <a:endParaRPr lang="en-US" sz="3499" spc="-97">
                <a:solidFill>
                  <a:srgbClr val="000000"/>
                </a:solidFill>
                <a:latin typeface="210 연필스케치"/>
                <a:ea typeface="210 연필스케치"/>
                <a:cs typeface="210 연필스케치"/>
                <a:sym typeface="210 연필스케치"/>
              </a:endParaRP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IO 바운드 → 병렬, 복잡한 추론 → PLANNER+EXECUTOR.</a:t>
              </a:r>
            </a:p>
            <a:p>
              <a:pPr algn="r">
                <a:lnSpc>
                  <a:spcPts val="2249"/>
                </a:lnSpc>
              </a:pPr>
              <a:r>
                <a:rPr lang="en-US" sz="2499" spc="-69">
                  <a:solidFill>
                    <a:srgbClr val="4F4E4E"/>
                  </a:solidFill>
                  <a:latin typeface="210 연필스케치"/>
                  <a:ea typeface="210 연필스케치"/>
                  <a:cs typeface="210 연필스케치"/>
                  <a:sym typeface="210 연필스케치"/>
                </a:rPr>
                <a:t>항상 좋은 패턴은 없고 실험을 통해 알 수 있다.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4612" y="2421052"/>
            <a:ext cx="16230600" cy="7283482"/>
          </a:xfrm>
          <a:custGeom>
            <a:avLst/>
            <a:gdLst/>
            <a:ahLst/>
            <a:cxnLst/>
            <a:rect l="l" t="t" r="r" b="b"/>
            <a:pathLst>
              <a:path w="16230600" h="7283482">
                <a:moveTo>
                  <a:pt x="0" y="0"/>
                </a:moveTo>
                <a:lnTo>
                  <a:pt x="16230600" y="0"/>
                </a:lnTo>
                <a:lnTo>
                  <a:pt x="16230600" y="7283482"/>
                </a:lnTo>
                <a:lnTo>
                  <a:pt x="0" y="7283482"/>
                </a:lnTo>
                <a:lnTo>
                  <a:pt x="0" y="0"/>
                </a:lnTo>
                <a:close/>
              </a:path>
            </a:pathLst>
          </a:custGeom>
          <a:blipFill>
            <a:blip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3704890" y="1459618"/>
            <a:ext cx="9240714" cy="416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088"/>
              </a:lnSpc>
            </a:pPr>
            <a:r>
              <a:rPr lang="en-US" sz="21554" spc="-2155">
                <a:solidFill>
                  <a:srgbClr val="40B19B"/>
                </a:solidFill>
                <a:latin typeface="210 연필스케치"/>
                <a:ea typeface="210 연필스케치"/>
                <a:cs typeface="210 연필스케치"/>
                <a:sym typeface="210 연필스케치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639</Words>
  <Application>Microsoft Macintosh PowerPoint</Application>
  <PresentationFormat>사용자 지정</PresentationFormat>
  <Paragraphs>164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210 연필스케치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+ opnerouter</dc:title>
  <cp:lastModifiedBy>김희경</cp:lastModifiedBy>
  <cp:revision>4</cp:revision>
  <dcterms:created xsi:type="dcterms:W3CDTF">2006-08-16T00:00:00Z</dcterms:created>
  <dcterms:modified xsi:type="dcterms:W3CDTF">2026-05-14T13:53:12Z</dcterms:modified>
  <dc:identifier>DAHJnqcMPLQ</dc:identifier>
</cp:coreProperties>
</file>